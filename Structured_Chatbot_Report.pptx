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45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37860" y="1874520"/>
            <a:ext cx="164592" cy="164592"/>
          </a:xfrm>
          <a:prstGeom prst="ellipse">
            <a:avLst/>
          </a:prstGeom>
          <a:solidFill>
            <a:srgbClr val="D9A441"/>
          </a:solidFill>
        </p:spPr>
      </p:sp>
      <p:sp>
        <p:nvSpPr>
          <p:cNvPr id="3" name="Shape 1"/>
          <p:cNvSpPr/>
          <p:nvPr/>
        </p:nvSpPr>
        <p:spPr>
          <a:xfrm>
            <a:off x="6012180" y="1874520"/>
            <a:ext cx="164592" cy="164592"/>
          </a:xfrm>
          <a:prstGeom prst="ellipse">
            <a:avLst/>
          </a:prstGeom>
          <a:solidFill>
            <a:srgbClr val="D9A441"/>
          </a:solidFill>
        </p:spPr>
      </p:sp>
      <p:sp>
        <p:nvSpPr>
          <p:cNvPr id="4" name="Shape 2"/>
          <p:cNvSpPr/>
          <p:nvPr/>
        </p:nvSpPr>
        <p:spPr>
          <a:xfrm>
            <a:off x="6286500" y="1874520"/>
            <a:ext cx="164592" cy="164592"/>
          </a:xfrm>
          <a:prstGeom prst="ellipse">
            <a:avLst/>
          </a:prstGeom>
          <a:solidFill>
            <a:srgbClr val="D9A441"/>
          </a:solidFill>
        </p:spPr>
      </p:sp>
      <p:sp>
        <p:nvSpPr>
          <p:cNvPr id="5" name="Text 3"/>
          <p:cNvSpPr/>
          <p:nvPr/>
        </p:nvSpPr>
        <p:spPr>
          <a:xfrm>
            <a:off x="0" y="2240280"/>
            <a:ext cx="121889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D9A4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 PROJECT REPORT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2697480"/>
            <a:ext cx="1218895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Structured Chatbot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371600" y="3703320"/>
            <a:ext cx="944575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FE0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AI-Powered Web Chat Interface Built with the Gemini API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E0428B-B942-63B4-8C0E-37D6B27585C8}"/>
              </a:ext>
            </a:extLst>
          </p:cNvPr>
          <p:cNvSpPr txBox="1"/>
          <p:nvPr/>
        </p:nvSpPr>
        <p:spPr>
          <a:xfrm>
            <a:off x="961053" y="4945224"/>
            <a:ext cx="101703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FFF00"/>
                </a:solidFill>
              </a:rPr>
              <a:t>Debopriyo Khan</a:t>
            </a:r>
          </a:p>
          <a:p>
            <a:pPr algn="ctr"/>
            <a:r>
              <a:rPr lang="en-IN" b="1" dirty="0" err="1">
                <a:solidFill>
                  <a:srgbClr val="FFFF00"/>
                </a:solidFill>
              </a:rPr>
              <a:t>Dilkush</a:t>
            </a:r>
            <a:r>
              <a:rPr lang="en-IN" b="1" dirty="0">
                <a:solidFill>
                  <a:srgbClr val="FFFF00"/>
                </a:solidFill>
              </a:rPr>
              <a:t> </a:t>
            </a:r>
            <a:r>
              <a:rPr lang="en-IN" b="1" dirty="0" err="1">
                <a:solidFill>
                  <a:srgbClr val="FFFF00"/>
                </a:solidFill>
              </a:rPr>
              <a:t>Napit</a:t>
            </a:r>
            <a:endParaRPr lang="en-IN" b="1" dirty="0">
              <a:solidFill>
                <a:srgbClr val="FFFF00"/>
              </a:solidFill>
            </a:endParaRPr>
          </a:p>
          <a:p>
            <a:pPr algn="ctr"/>
            <a:r>
              <a:rPr lang="en-IN" b="1" dirty="0">
                <a:solidFill>
                  <a:srgbClr val="FFFF00"/>
                </a:solidFill>
              </a:rPr>
              <a:t>Mukesh </a:t>
            </a:r>
            <a:r>
              <a:rPr lang="en-IN" b="1" dirty="0" err="1">
                <a:solidFill>
                  <a:srgbClr val="FFFF00"/>
                </a:solidFill>
              </a:rPr>
              <a:t>Gangey</a:t>
            </a:r>
            <a:endParaRPr lang="en-IN" b="1" dirty="0">
              <a:solidFill>
                <a:srgbClr val="FFFF00"/>
              </a:solidFill>
            </a:endParaRPr>
          </a:p>
          <a:p>
            <a:pPr algn="ctr"/>
            <a:r>
              <a:rPr lang="en-IN" b="1" dirty="0">
                <a:solidFill>
                  <a:srgbClr val="FFFF00"/>
                </a:solidFill>
              </a:rPr>
              <a:t>Priyanshi Thakur</a:t>
            </a:r>
          </a:p>
          <a:p>
            <a:pPr algn="ctr"/>
            <a:r>
              <a:rPr lang="en-IN" b="1" dirty="0">
                <a:solidFill>
                  <a:srgbClr val="FFFF00"/>
                </a:solidFill>
              </a:rPr>
              <a:t>Savara Sankara Rao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456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600200"/>
            <a:ext cx="612648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is a lightweight, browser-based AI chat assistant built entirely with vanilla HTML, CSS, and JavaScript. It connects directly to Google's Gemini API to hold multi-turn conversations, understand attached images, and render richly formatted replies — all without a backend server or any front-end framework.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086600" y="1600200"/>
            <a:ext cx="457200" cy="457200"/>
          </a:xfrm>
          <a:prstGeom prst="ellipse">
            <a:avLst/>
          </a:prstGeom>
          <a:solidFill>
            <a:srgbClr val="E4ECF3"/>
          </a:solidFill>
        </p:spPr>
      </p:sp>
      <p:sp>
        <p:nvSpPr>
          <p:cNvPr id="5" name="Text 3"/>
          <p:cNvSpPr/>
          <p:nvPr/>
        </p:nvSpPr>
        <p:spPr>
          <a:xfrm>
            <a:off x="7086600" y="1600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26680" y="1554480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Multimodal Input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26680" y="1892808"/>
            <a:ext cx="3794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Accepts both typed text and attached images in the same conversation.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86600" y="2834640"/>
            <a:ext cx="457200" cy="457200"/>
          </a:xfrm>
          <a:prstGeom prst="ellipse">
            <a:avLst/>
          </a:prstGeom>
          <a:solidFill>
            <a:srgbClr val="E4ECF3"/>
          </a:solidFill>
        </p:spPr>
      </p:sp>
      <p:sp>
        <p:nvSpPr>
          <p:cNvPr id="9" name="Text 7"/>
          <p:cNvSpPr/>
          <p:nvPr/>
        </p:nvSpPr>
        <p:spPr>
          <a:xfrm>
            <a:off x="7086600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26680" y="2788920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Responses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26680" y="3127248"/>
            <a:ext cx="3794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Calls the Gemini API directly and streams the reply into the chat window.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86600" y="4069080"/>
            <a:ext cx="457200" cy="457200"/>
          </a:xfrm>
          <a:prstGeom prst="ellipse">
            <a:avLst/>
          </a:prstGeom>
          <a:solidFill>
            <a:srgbClr val="E4ECF3"/>
          </a:solidFill>
        </p:spPr>
      </p:sp>
      <p:sp>
        <p:nvSpPr>
          <p:cNvPr id="13" name="Text 11"/>
          <p:cNvSpPr/>
          <p:nvPr/>
        </p:nvSpPr>
        <p:spPr>
          <a:xfrm>
            <a:off x="7086600" y="40690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26680" y="4023360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Dependencies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26680" y="4361688"/>
            <a:ext cx="3794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framework or backend — just plain HTML, CSS, and JavaScript.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456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0916" y="2331720"/>
            <a:ext cx="2103120" cy="21488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CA9B4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5236" y="265176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E4ECF3"/>
          </a:solidFill>
        </p:spPr>
      </p:sp>
      <p:sp>
        <p:nvSpPr>
          <p:cNvPr id="5" name="Text 3"/>
          <p:cNvSpPr/>
          <p:nvPr/>
        </p:nvSpPr>
        <p:spPr>
          <a:xfrm>
            <a:off x="608076" y="265176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3796" y="3383280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structure &amp; markup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56916" y="2331720"/>
            <a:ext cx="2103120" cy="21488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CA9B4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031236" y="265176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E4ECF3"/>
          </a:solidFill>
        </p:spPr>
      </p:sp>
      <p:sp>
        <p:nvSpPr>
          <p:cNvPr id="9" name="Text 7"/>
          <p:cNvSpPr/>
          <p:nvPr/>
        </p:nvSpPr>
        <p:spPr>
          <a:xfrm>
            <a:off x="2894076" y="265176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CSS3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39796" y="3383280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Styling, layout &amp; responsiveness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42916" y="2331720"/>
            <a:ext cx="2103120" cy="21488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CA9B4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17236" y="265176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E4ECF3"/>
          </a:solidFill>
        </p:spPr>
      </p:sp>
      <p:sp>
        <p:nvSpPr>
          <p:cNvPr id="13" name="Text 11"/>
          <p:cNvSpPr/>
          <p:nvPr/>
        </p:nvSpPr>
        <p:spPr>
          <a:xfrm>
            <a:off x="5180076" y="265176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25796" y="3383280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Vanilla — application logic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28916" y="2331720"/>
            <a:ext cx="2103120" cy="21488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CA9B4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03236" y="265176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E4ECF3"/>
          </a:solidFill>
        </p:spPr>
      </p:sp>
      <p:sp>
        <p:nvSpPr>
          <p:cNvPr id="17" name="Text 15"/>
          <p:cNvSpPr/>
          <p:nvPr/>
        </p:nvSpPr>
        <p:spPr>
          <a:xfrm>
            <a:off x="7466076" y="265176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Gemini API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11796" y="3383280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gemini-3.5-flash — AI responses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614916" y="2331720"/>
            <a:ext cx="2103120" cy="21488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CA9B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89236" y="265176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E4ECF3"/>
          </a:solidFill>
        </p:spPr>
      </p:sp>
      <p:sp>
        <p:nvSpPr>
          <p:cNvPr id="21" name="Text 19"/>
          <p:cNvSpPr/>
          <p:nvPr/>
        </p:nvSpPr>
        <p:spPr>
          <a:xfrm>
            <a:off x="9752076" y="265176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Server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97796" y="3383280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development environment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456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16636" y="14173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CA9B4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90956" y="1691640"/>
            <a:ext cx="457200" cy="457200"/>
          </a:xfrm>
          <a:prstGeom prst="ellipse">
            <a:avLst/>
          </a:prstGeom>
          <a:solidFill>
            <a:srgbClr val="E4ECF3"/>
          </a:solidFill>
        </p:spPr>
      </p:sp>
      <p:sp>
        <p:nvSpPr>
          <p:cNvPr id="5" name="Text 3"/>
          <p:cNvSpPr/>
          <p:nvPr/>
        </p:nvSpPr>
        <p:spPr>
          <a:xfrm>
            <a:off x="790956" y="1691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90956" y="228600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Multi-Turn Conversations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90956" y="278892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Maintains full context using Gemini's structured message array.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11396" y="14173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CA9B4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85716" y="1691640"/>
            <a:ext cx="457200" cy="457200"/>
          </a:xfrm>
          <a:prstGeom prst="ellipse">
            <a:avLst/>
          </a:prstGeom>
          <a:solidFill>
            <a:srgbClr val="E4ECF3"/>
          </a:solidFill>
        </p:spPr>
      </p:sp>
      <p:sp>
        <p:nvSpPr>
          <p:cNvPr id="10" name="Text 8"/>
          <p:cNvSpPr/>
          <p:nvPr/>
        </p:nvSpPr>
        <p:spPr>
          <a:xfrm>
            <a:off x="4585716" y="1691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85716" y="228600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Understanding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85716" y="278892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can attach an image; Gemini analyzes it alongside the text.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06156" y="14173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CA9B4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80476" y="1691640"/>
            <a:ext cx="457200" cy="457200"/>
          </a:xfrm>
          <a:prstGeom prst="ellipse">
            <a:avLst/>
          </a:prstGeom>
          <a:solidFill>
            <a:srgbClr val="E4ECF3"/>
          </a:solidFill>
        </p:spPr>
      </p:sp>
      <p:sp>
        <p:nvSpPr>
          <p:cNvPr id="15" name="Text 13"/>
          <p:cNvSpPr/>
          <p:nvPr/>
        </p:nvSpPr>
        <p:spPr>
          <a:xfrm>
            <a:off x="8380476" y="1691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80476" y="228600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Markdown Rendering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80476" y="278892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lightweight custom parser safely renders bold text, lists, code, and links.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6636" y="40233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CA9B4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0956" y="4297680"/>
            <a:ext cx="457200" cy="457200"/>
          </a:xfrm>
          <a:prstGeom prst="ellipse">
            <a:avLst/>
          </a:prstGeom>
          <a:solidFill>
            <a:srgbClr val="E4ECF3"/>
          </a:solidFill>
        </p:spPr>
      </p:sp>
      <p:sp>
        <p:nvSpPr>
          <p:cNvPr id="20" name="Text 18"/>
          <p:cNvSpPr/>
          <p:nvPr/>
        </p:nvSpPr>
        <p:spPr>
          <a:xfrm>
            <a:off x="790956" y="4297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90956" y="489204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Persistent History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90956" y="539496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Conversations are saved to localStorage and restored on reload.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1396" y="40233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CA9B4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85716" y="4297680"/>
            <a:ext cx="457200" cy="457200"/>
          </a:xfrm>
          <a:prstGeom prst="ellipse">
            <a:avLst/>
          </a:prstGeom>
          <a:solidFill>
            <a:srgbClr val="E4ECF3"/>
          </a:solidFill>
        </p:spPr>
      </p:sp>
      <p:sp>
        <p:nvSpPr>
          <p:cNvPr id="25" name="Text 23"/>
          <p:cNvSpPr/>
          <p:nvPr/>
        </p:nvSpPr>
        <p:spPr>
          <a:xfrm>
            <a:off x="4585716" y="4297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85716" y="489204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Graceful Error Handling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85716" y="539496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Failed requests roll back cleanly instead of corrupting the chat state.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06156" y="40233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CA9B4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80476" y="4297680"/>
            <a:ext cx="457200" cy="457200"/>
          </a:xfrm>
          <a:prstGeom prst="ellipse">
            <a:avLst/>
          </a:prstGeom>
          <a:solidFill>
            <a:srgbClr val="E4ECF3"/>
          </a:solidFill>
        </p:spPr>
      </p:sp>
      <p:sp>
        <p:nvSpPr>
          <p:cNvPr id="30" name="Text 28"/>
          <p:cNvSpPr/>
          <p:nvPr/>
        </p:nvSpPr>
        <p:spPr>
          <a:xfrm>
            <a:off x="8380476" y="4297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380476" y="489204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Responsive Layout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380476" y="539496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Adapts smoothly from desktop down to mobile screens.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456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82396" y="2880360"/>
            <a:ext cx="1828800" cy="1051560"/>
          </a:xfrm>
          <a:prstGeom prst="roundRect">
            <a:avLst>
              <a:gd name="adj" fmla="val 7826"/>
            </a:avLst>
          </a:prstGeom>
          <a:solidFill>
            <a:srgbClr val="18456C"/>
          </a:solidFill>
        </p:spPr>
      </p:sp>
      <p:sp>
        <p:nvSpPr>
          <p:cNvPr id="4" name="Text 2"/>
          <p:cNvSpPr/>
          <p:nvPr/>
        </p:nvSpPr>
        <p:spPr>
          <a:xfrm>
            <a:off x="973836" y="2880360"/>
            <a:ext cx="16459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Input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711196" y="2880360"/>
            <a:ext cx="32004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031236" y="2880360"/>
            <a:ext cx="1828800" cy="1051560"/>
          </a:xfrm>
          <a:prstGeom prst="roundRect">
            <a:avLst>
              <a:gd name="adj" fmla="val 7826"/>
            </a:avLst>
          </a:prstGeom>
          <a:solidFill>
            <a:srgbClr val="18456C"/>
          </a:solidFill>
        </p:spPr>
      </p:sp>
      <p:sp>
        <p:nvSpPr>
          <p:cNvPr id="7" name="Text 5"/>
          <p:cNvSpPr/>
          <p:nvPr/>
        </p:nvSpPr>
        <p:spPr>
          <a:xfrm>
            <a:off x="3122676" y="2880360"/>
            <a:ext cx="16459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 Event Handler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860036" y="2880360"/>
            <a:ext cx="32004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180076" y="2880360"/>
            <a:ext cx="1828800" cy="1051560"/>
          </a:xfrm>
          <a:prstGeom prst="roundRect">
            <a:avLst>
              <a:gd name="adj" fmla="val 7826"/>
            </a:avLst>
          </a:prstGeom>
          <a:solidFill>
            <a:srgbClr val="18456C"/>
          </a:solidFill>
        </p:spPr>
      </p:sp>
      <p:sp>
        <p:nvSpPr>
          <p:cNvPr id="10" name="Text 8"/>
          <p:cNvSpPr/>
          <p:nvPr/>
        </p:nvSpPr>
        <p:spPr>
          <a:xfrm>
            <a:off x="5271516" y="2880360"/>
            <a:ext cx="16459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Gemini API Call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008876" y="2880360"/>
            <a:ext cx="32004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28916" y="2880360"/>
            <a:ext cx="1828800" cy="1051560"/>
          </a:xfrm>
          <a:prstGeom prst="roundRect">
            <a:avLst>
              <a:gd name="adj" fmla="val 7826"/>
            </a:avLst>
          </a:prstGeom>
          <a:solidFill>
            <a:srgbClr val="18456C"/>
          </a:solidFill>
        </p:spPr>
      </p:sp>
      <p:sp>
        <p:nvSpPr>
          <p:cNvPr id="13" name="Text 11"/>
          <p:cNvSpPr/>
          <p:nvPr/>
        </p:nvSpPr>
        <p:spPr>
          <a:xfrm>
            <a:off x="7420356" y="2880360"/>
            <a:ext cx="16459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 Response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57716" y="2880360"/>
            <a:ext cx="32004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477756" y="2880360"/>
            <a:ext cx="1828800" cy="1051560"/>
          </a:xfrm>
          <a:prstGeom prst="roundRect">
            <a:avLst>
              <a:gd name="adj" fmla="val 7826"/>
            </a:avLst>
          </a:prstGeom>
          <a:solidFill>
            <a:srgbClr val="18456C"/>
          </a:solidFill>
        </p:spPr>
      </p:sp>
      <p:sp>
        <p:nvSpPr>
          <p:cNvPr id="16" name="Text 14"/>
          <p:cNvSpPr/>
          <p:nvPr/>
        </p:nvSpPr>
        <p:spPr>
          <a:xfrm>
            <a:off x="9569196" y="2880360"/>
            <a:ext cx="16459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Render in Chat UI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371600" y="4343400"/>
            <a:ext cx="9445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message and reply is stored in a structured array (role + parts) so the model always has full conversation context.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456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457200" cy="457200"/>
          </a:xfrm>
          <a:prstGeom prst="ellipse">
            <a:avLst/>
          </a:prstGeom>
          <a:solidFill>
            <a:srgbClr val="E4ECF3"/>
          </a:solidFill>
        </p:spPr>
      </p:sp>
      <p:sp>
        <p:nvSpPr>
          <p:cNvPr id="4" name="Text 2"/>
          <p:cNvSpPr/>
          <p:nvPr/>
        </p:nvSpPr>
        <p:spPr>
          <a:xfrm>
            <a:off x="502920" y="1554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527048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9A4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43000" y="1810512"/>
            <a:ext cx="44348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AI stopped responding entirely.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0" y="1527048"/>
            <a:ext cx="56509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35040" y="1810512"/>
            <a:ext cx="565099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hardcoded model (gemini-1.5-flash) had been fully retired by Google. Repointed the API call to the current gemini-3.5-flash model.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880360"/>
            <a:ext cx="11183112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971800"/>
            <a:ext cx="457200" cy="457200"/>
          </a:xfrm>
          <a:prstGeom prst="ellipse">
            <a:avLst/>
          </a:prstGeom>
          <a:solidFill>
            <a:srgbClr val="E4ECF3"/>
          </a:solidFill>
        </p:spPr>
      </p:sp>
      <p:sp>
        <p:nvSpPr>
          <p:cNvPr id="11" name="Text 9"/>
          <p:cNvSpPr/>
          <p:nvPr/>
        </p:nvSpPr>
        <p:spPr>
          <a:xfrm>
            <a:off x="502920" y="2971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944368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9A4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43000" y="3227832"/>
            <a:ext cx="44348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empty image-preview box stayed visible at all times.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2944368"/>
            <a:ext cx="56509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35040" y="3227832"/>
            <a:ext cx="565099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CSS display rule was silently overriding the native hidden attribute. Added a specific [hidden] override to fix it.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297680"/>
            <a:ext cx="11183112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389120"/>
            <a:ext cx="457200" cy="457200"/>
          </a:xfrm>
          <a:prstGeom prst="ellipse">
            <a:avLst/>
          </a:prstGeom>
          <a:solidFill>
            <a:srgbClr val="E4ECF3"/>
          </a:solidFill>
        </p:spPr>
      </p:sp>
      <p:sp>
        <p:nvSpPr>
          <p:cNvPr id="18" name="Text 16"/>
          <p:cNvSpPr/>
          <p:nvPr/>
        </p:nvSpPr>
        <p:spPr>
          <a:xfrm>
            <a:off x="502920" y="4389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4361688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9A4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43000" y="4645152"/>
            <a:ext cx="44348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failures only showed one generic, unhelpful message.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35040" y="4361688"/>
            <a:ext cx="56509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35040" y="4645152"/>
            <a:ext cx="565099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browser DevTools (Console &amp; Network tabs) to inspect the real HTTP status codes and error bodies for precise debugging.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456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234440" y="1600200"/>
            <a:ext cx="9692640" cy="4165598"/>
          </a:xfrm>
          <a:prstGeom prst="roundRect">
            <a:avLst>
              <a:gd name="adj" fmla="val 1756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CA9B4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35608" y="1691640"/>
            <a:ext cx="109728" cy="109728"/>
          </a:xfrm>
          <a:prstGeom prst="ellipse">
            <a:avLst/>
          </a:prstGeom>
          <a:solidFill>
            <a:srgbClr val="E4746D"/>
          </a:solidFill>
        </p:spPr>
      </p:sp>
      <p:sp>
        <p:nvSpPr>
          <p:cNvPr id="5" name="Shape 3"/>
          <p:cNvSpPr/>
          <p:nvPr/>
        </p:nvSpPr>
        <p:spPr>
          <a:xfrm>
            <a:off x="1691640" y="1691640"/>
            <a:ext cx="109728" cy="109728"/>
          </a:xfrm>
          <a:prstGeom prst="ellipse">
            <a:avLst/>
          </a:prstGeom>
          <a:solidFill>
            <a:srgbClr val="E9C25E"/>
          </a:solidFill>
        </p:spPr>
      </p:sp>
      <p:sp>
        <p:nvSpPr>
          <p:cNvPr id="6" name="Shape 4"/>
          <p:cNvSpPr/>
          <p:nvPr/>
        </p:nvSpPr>
        <p:spPr>
          <a:xfrm>
            <a:off x="1947672" y="1691640"/>
            <a:ext cx="109728" cy="109728"/>
          </a:xfrm>
          <a:prstGeom prst="ellipse">
            <a:avLst/>
          </a:prstGeom>
          <a:solidFill>
            <a:srgbClr val="68B278"/>
          </a:solidFill>
        </p:spPr>
      </p:sp>
      <p:pic>
        <p:nvPicPr>
          <p:cNvPr id="7" name="Image 0" descr="demo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892808"/>
            <a:ext cx="9692640" cy="38729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6085838"/>
            <a:ext cx="944575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assistant renders structured Markdown — headings, bold text, and lists — directly inside the chat bubble, and keeps full conversation context across turns.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456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457200" cy="457200"/>
          </a:xfrm>
          <a:prstGeom prst="ellipse">
            <a:avLst/>
          </a:prstGeom>
          <a:solidFill>
            <a:srgbClr val="E4ECF3"/>
          </a:solidFill>
        </p:spPr>
      </p:sp>
      <p:sp>
        <p:nvSpPr>
          <p:cNvPr id="4" name="Text 2"/>
          <p:cNvSpPr/>
          <p:nvPr/>
        </p:nvSpPr>
        <p:spPr>
          <a:xfrm>
            <a:off x="502920" y="1554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52704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Streaming Responses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617720" y="1527048"/>
            <a:ext cx="7068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 the reply word-by-word instead of all at once.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11183112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450592"/>
            <a:ext cx="457200" cy="457200"/>
          </a:xfrm>
          <a:prstGeom prst="ellipse">
            <a:avLst/>
          </a:prstGeom>
          <a:solidFill>
            <a:srgbClr val="E4ECF3"/>
          </a:solidFill>
        </p:spPr>
      </p:sp>
      <p:sp>
        <p:nvSpPr>
          <p:cNvPr id="9" name="Text 7"/>
          <p:cNvSpPr/>
          <p:nvPr/>
        </p:nvSpPr>
        <p:spPr>
          <a:xfrm>
            <a:off x="502920" y="24505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4231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System Prompt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7720" y="2423160"/>
            <a:ext cx="7068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 users define a persona or instruction sent with every request.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182112"/>
            <a:ext cx="11183112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346704"/>
            <a:ext cx="457200" cy="457200"/>
          </a:xfrm>
          <a:prstGeom prst="ellipse">
            <a:avLst/>
          </a:prstGeom>
          <a:solidFill>
            <a:srgbClr val="E4ECF3"/>
          </a:solidFill>
        </p:spPr>
      </p:sp>
      <p:sp>
        <p:nvSpPr>
          <p:cNvPr id="14" name="Text 12"/>
          <p:cNvSpPr/>
          <p:nvPr/>
        </p:nvSpPr>
        <p:spPr>
          <a:xfrm>
            <a:off x="502920" y="334670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31927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Retry on Failure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617720" y="3319272"/>
            <a:ext cx="7068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One-click resend for messages that fail to reach the API.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078224"/>
            <a:ext cx="11183112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242816"/>
            <a:ext cx="457200" cy="457200"/>
          </a:xfrm>
          <a:prstGeom prst="ellipse">
            <a:avLst/>
          </a:prstGeom>
          <a:solidFill>
            <a:srgbClr val="E4ECF3"/>
          </a:solidFill>
        </p:spPr>
      </p:sp>
      <p:sp>
        <p:nvSpPr>
          <p:cNvPr id="19" name="Text 17"/>
          <p:cNvSpPr/>
          <p:nvPr/>
        </p:nvSpPr>
        <p:spPr>
          <a:xfrm>
            <a:off x="502920" y="42428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4215384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Theme Toggle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617720" y="4215384"/>
            <a:ext cx="7068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Switch between the current dark theme and a light mode.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974336"/>
            <a:ext cx="11183112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5138928"/>
            <a:ext cx="457200" cy="457200"/>
          </a:xfrm>
          <a:prstGeom prst="ellipse">
            <a:avLst/>
          </a:prstGeom>
          <a:solidFill>
            <a:srgbClr val="E4ECF3"/>
          </a:solidFill>
        </p:spPr>
      </p:sp>
      <p:sp>
        <p:nvSpPr>
          <p:cNvPr id="24" name="Text 22"/>
          <p:cNvSpPr/>
          <p:nvPr/>
        </p:nvSpPr>
        <p:spPr>
          <a:xfrm>
            <a:off x="502920" y="51389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88720" y="5111496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 Export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617720" y="5111496"/>
            <a:ext cx="7068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Download the full conversation as a plain text file.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456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Learnings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457200" cy="457200"/>
          </a:xfrm>
          <a:prstGeom prst="ellipse">
            <a:avLst/>
          </a:prstGeom>
          <a:solidFill>
            <a:srgbClr val="E4ECF3"/>
          </a:solidFill>
        </p:spPr>
      </p:sp>
      <p:sp>
        <p:nvSpPr>
          <p:cNvPr id="4" name="Text 2"/>
          <p:cNvSpPr/>
          <p:nvPr/>
        </p:nvSpPr>
        <p:spPr>
          <a:xfrm>
            <a:off x="502920" y="1554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52704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 Integration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617720" y="1527048"/>
            <a:ext cx="7068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Structuring requests and handling responses from a real-world LLM API.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11183112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450592"/>
            <a:ext cx="457200" cy="457200"/>
          </a:xfrm>
          <a:prstGeom prst="ellipse">
            <a:avLst/>
          </a:prstGeom>
          <a:solidFill>
            <a:srgbClr val="E4ECF3"/>
          </a:solidFill>
        </p:spPr>
      </p:sp>
      <p:sp>
        <p:nvSpPr>
          <p:cNvPr id="9" name="Text 7"/>
          <p:cNvSpPr/>
          <p:nvPr/>
        </p:nvSpPr>
        <p:spPr>
          <a:xfrm>
            <a:off x="502920" y="24505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4231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 Manipulation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7720" y="2423160"/>
            <a:ext cx="7068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 and updating an interactive UI dynamically with vanilla JavaScript.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182112"/>
            <a:ext cx="11183112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346704"/>
            <a:ext cx="457200" cy="457200"/>
          </a:xfrm>
          <a:prstGeom prst="ellipse">
            <a:avLst/>
          </a:prstGeom>
          <a:solidFill>
            <a:srgbClr val="E4ECF3"/>
          </a:solidFill>
        </p:spPr>
      </p:sp>
      <p:sp>
        <p:nvSpPr>
          <p:cNvPr id="14" name="Text 12"/>
          <p:cNvSpPr/>
          <p:nvPr/>
        </p:nvSpPr>
        <p:spPr>
          <a:xfrm>
            <a:off x="502920" y="334670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31927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 Storage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617720" y="3319272"/>
            <a:ext cx="7068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Persisting application state across sessions using localStorage.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078224"/>
            <a:ext cx="11183112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242816"/>
            <a:ext cx="457200" cy="457200"/>
          </a:xfrm>
          <a:prstGeom prst="ellipse">
            <a:avLst/>
          </a:prstGeom>
          <a:solidFill>
            <a:srgbClr val="E4ECF3"/>
          </a:solidFill>
        </p:spPr>
      </p:sp>
      <p:sp>
        <p:nvSpPr>
          <p:cNvPr id="19" name="Text 17"/>
          <p:cNvSpPr/>
          <p:nvPr/>
        </p:nvSpPr>
        <p:spPr>
          <a:xfrm>
            <a:off x="502920" y="42428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4215384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Practical Debugging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617720" y="4215384"/>
            <a:ext cx="7068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Diagnosing CSS specificity issues, deprecated APIs, and silent JS errors using DevTools.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974336"/>
            <a:ext cx="11183112" cy="0"/>
          </a:xfrm>
          <a:prstGeom prst="line">
            <a:avLst/>
          </a:prstGeom>
          <a:noFill/>
          <a:ln w="9525">
            <a:solidFill>
              <a:srgbClr val="D8DE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5138928"/>
            <a:ext cx="457200" cy="457200"/>
          </a:xfrm>
          <a:prstGeom prst="ellipse">
            <a:avLst/>
          </a:prstGeom>
          <a:solidFill>
            <a:srgbClr val="E4ECF3"/>
          </a:solidFill>
        </p:spPr>
      </p:sp>
      <p:sp>
        <p:nvSpPr>
          <p:cNvPr id="24" name="Text 22"/>
          <p:cNvSpPr/>
          <p:nvPr/>
        </p:nvSpPr>
        <p:spPr>
          <a:xfrm>
            <a:off x="502920" y="51389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88720" y="5111496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45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Responsive UI Design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617720" y="5111496"/>
            <a:ext cx="7068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Designing a layout that adapts cleanly across screen sizes.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45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37860" y="2651760"/>
            <a:ext cx="164592" cy="164592"/>
          </a:xfrm>
          <a:prstGeom prst="ellipse">
            <a:avLst/>
          </a:prstGeom>
          <a:solidFill>
            <a:srgbClr val="D9A441"/>
          </a:solidFill>
        </p:spPr>
      </p:sp>
      <p:sp>
        <p:nvSpPr>
          <p:cNvPr id="3" name="Shape 1"/>
          <p:cNvSpPr/>
          <p:nvPr/>
        </p:nvSpPr>
        <p:spPr>
          <a:xfrm>
            <a:off x="6012180" y="2651760"/>
            <a:ext cx="164592" cy="164592"/>
          </a:xfrm>
          <a:prstGeom prst="ellipse">
            <a:avLst/>
          </a:prstGeom>
          <a:solidFill>
            <a:srgbClr val="D9A441"/>
          </a:solidFill>
        </p:spPr>
      </p:sp>
      <p:sp>
        <p:nvSpPr>
          <p:cNvPr id="4" name="Shape 2"/>
          <p:cNvSpPr/>
          <p:nvPr/>
        </p:nvSpPr>
        <p:spPr>
          <a:xfrm>
            <a:off x="6286500" y="2651760"/>
            <a:ext cx="164592" cy="164592"/>
          </a:xfrm>
          <a:prstGeom prst="ellipse">
            <a:avLst/>
          </a:prstGeom>
          <a:solidFill>
            <a:srgbClr val="D9A441"/>
          </a:solidFill>
        </p:spPr>
      </p:sp>
      <p:sp>
        <p:nvSpPr>
          <p:cNvPr id="5" name="Text 3"/>
          <p:cNvSpPr/>
          <p:nvPr/>
        </p:nvSpPr>
        <p:spPr>
          <a:xfrm>
            <a:off x="0" y="3017520"/>
            <a:ext cx="1218895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FE0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593</Words>
  <Application>Microsoft Office PowerPoint</Application>
  <PresentationFormat>Widescreen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Debopriyo Khan</cp:lastModifiedBy>
  <cp:revision>4</cp:revision>
  <dcterms:created xsi:type="dcterms:W3CDTF">2026-07-20T05:28:00Z</dcterms:created>
  <dcterms:modified xsi:type="dcterms:W3CDTF">2026-09-17T16:47:58Z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F3E7715DBF9B4AC5838F6D9F82CEA455_12</vt:lpwstr>
  </property>
  <property fmtid="{D5CDD505-2E9C-101B-9397-08002B2CF9AE}" pid="3" name="KSOProductBuildVer">
    <vt:lpwstr>1033-12.1.0.27458</vt:lpwstr>
  </property>
</Properties>
</file>